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3840480" cy="685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463040" cy="32918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64792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</a:rPr>
              <a:t>P3 SPRINT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</a:rPr>
              <a:t>SEC101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38BDF8"/>
                </a:solidFill>
              </a:rPr>
              <a:t>P3 개발 보고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보안 강화 · 결제/환불 연동 · 운영 안정화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17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2026. 06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01168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0">
                <a:solidFill>
                  <a:srgbClr val="38BDF8"/>
                </a:solidFill>
              </a:rPr>
              <a:t>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P3 — 한눈에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이번 스프린트에서 완료한 6개 영역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767328" cy="23317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0800" cy="2331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0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보안 강화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7개 보안 취약점
일괄 해소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371600"/>
            <a:ext cx="3767328" cy="23317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371600"/>
            <a:ext cx="50800" cy="2331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554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088" y="1600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</a:rPr>
              <a:t>결제 · 환불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9456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Toss API 실연동
2가지 환불 케이스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6176" y="1371600"/>
            <a:ext cx="3767328" cy="23317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66176" y="1371600"/>
            <a:ext cx="50800" cy="2331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0496" y="1554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6" y="1600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강의 구매 제어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219456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영상 없는 강의
구매 · 공개 차단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86200"/>
            <a:ext cx="3767328" cy="23317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886200"/>
            <a:ext cx="50800" cy="2331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690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1148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78BFA"/>
                </a:solidFill>
              </a:rPr>
              <a:t>UI 개선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70916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신고 모달
완전 리디자인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5968" y="3886200"/>
            <a:ext cx="3767328" cy="23317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15968" y="3886200"/>
            <a:ext cx="50800" cy="2331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40690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6088" y="41148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7171"/>
                </a:solidFill>
              </a:rPr>
              <a:t>모니터링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470916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Sentry · Winston
이메일 · Discord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66176" y="3886200"/>
            <a:ext cx="3767328" cy="23317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66176" y="3886200"/>
            <a:ext cx="50800" cy="2331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0496" y="40690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6296" y="41148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</a:rPr>
              <a:t>테스트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94776" y="470916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4개 spec 파일
44개 테스트 통과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01  보안 강화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Security Audit 체크리스트 기반 — 7개 항목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53312"/>
            <a:ext cx="5577840" cy="1170432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53312"/>
            <a:ext cx="50800" cy="117043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90472"/>
            <a:ext cx="777240" cy="25603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B2A"/>
                </a:solidFill>
              </a:rP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472184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JWT 환경변수 필수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562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JWT_ACCESS/REFRESH_SECRET 미설정 시 서버 기동 차단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0370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server/src/main.ts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53312"/>
            <a:ext cx="5577840" cy="1170432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53312"/>
            <a:ext cx="50800" cy="117043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490472"/>
            <a:ext cx="777240" cy="25603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49047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B2A"/>
                </a:solidFill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472184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bcrypt saltRounds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8562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10 → 12 상향 (현대 하드웨어 브루트포스 대응)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0370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server/src/user/user.manager.ts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651760"/>
            <a:ext cx="5577840" cy="1170432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651760"/>
            <a:ext cx="50800" cy="117043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788920"/>
            <a:ext cx="777240" cy="25603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78892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B2A"/>
                </a:solidFill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2770632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</a:rPr>
              <a:t>파일 업로드 MIME 화이트리스트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54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pdf · zip · png · jpg · mp4 등 허용 타입만 업로드 허용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5021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server/src/attachment/attachment.controller.ts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651760"/>
            <a:ext cx="5577840" cy="1170432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2651760"/>
            <a:ext cx="50800" cy="1170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2788920"/>
            <a:ext cx="777240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78892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B2A"/>
                </a:solidFill>
              </a:rP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2770632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Auth Rate Limiting 강화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154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로그인 · 회원가입: 20회/15분 제한 적용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5021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server/src/user/user.controller.ts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950208"/>
            <a:ext cx="5577840" cy="1170432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3950208"/>
            <a:ext cx="50800" cy="1170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087368"/>
            <a:ext cx="777240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08736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B2A"/>
                </a:solidFill>
              </a:rPr>
              <a:t>MEDIUM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4069080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비밀번호 복잡도 강제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4531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영문 + 숫자 조합 8자 이상 @Matches 정규식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800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server/src/user/dto/register.request.ts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950208"/>
            <a:ext cx="5577840" cy="1170432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3950208"/>
            <a:ext cx="50800" cy="1170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4087368"/>
            <a:ext cx="777240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408736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B2A"/>
                </a:solidFill>
              </a:rPr>
              <a:t>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20" y="4069080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Request Body 크기 제한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4531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express.json({ limit: '1mb' }) 적용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800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server/src/main.ts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37560" y="5248656"/>
            <a:ext cx="5577840" cy="1170432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37560" y="5248656"/>
            <a:ext cx="50800" cy="1170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20440" y="5385816"/>
            <a:ext cx="777240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0440" y="538581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1B2A"/>
                </a:solidFill>
              </a:rPr>
              <a:t>LOW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5367528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Production 에러 스택 숨김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20440" y="575157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NODE_ENV=production 일 때 500 에러 메시지 제네릭 처리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0440" y="60990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server/src/global/global.exception.ts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02  결제 · 환불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Toss Payments API 실 연동 — 기존엔 DB 기록만, 이제는 실제 API 호출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30000" cy="658368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0800" cy="6583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7171"/>
                </a:solidFill>
              </a:rPr>
              <a:t>기존 문제:  환불 요청 시 DB 상태만 REFUNDED로 변경 → Toss에는 실제 환불 요청 없음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5394960" cy="43891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50800" cy="4389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1945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</a:rPr>
              <a:t>TossPaymentService.cancelPayment()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4D399"/>
                </a:solidFill>
              </a:rPr>
              <a:t>POST /v1/payments/{paymentKey}/cancel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461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Authorization: Basic {base64(secretKey:)}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4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body: { cancelReason, cancelAmount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실패 시 → BadGatewayException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406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성공 로그 기록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103120"/>
            <a:ext cx="5760720" cy="20116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2103120"/>
            <a:ext cx="50800" cy="2011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2194560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</a:rPr>
              <a:t>케이스 1  사용자 요청 환불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633472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cancelOrder → Toss API 호출 → DB REFUNDED
DEMO 결제는 Toss Skip (provider 체크)
부분 환불 지원 (orderItemIds 선택)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4251960"/>
            <a:ext cx="5760720" cy="20116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4251960"/>
            <a:ext cx="50800" cy="2011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4343400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케이스 2  강의 폐강 환불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782312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cancelCourse → 수강자 전원 Promise.allSettled
개별 Toss API 호출 (실패해도 계속 진행)
실패 건은 Logger.error로 기록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03  강의 구매 제어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영상 없는 강의 구매 · 공개 차단 + 기본 상태 DRAFT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577840" cy="242316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0800" cy="2423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</a:rPr>
              <a:t>🚫  영상 없으면 구매 불가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checkoutCart · prepareTossPayment · confirmTossPayment
3개 결제 진입점 모두 동일하게 적용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assertCoursesHaveLectures() — 강의 영상이 없는 강의는 구매할 수 없습니다.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577840" cy="242316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0800" cy="2423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🔒  영상 없으면 공개 불가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setCourseStatus(OPEN) 호출 시 lecture 수 검증
강의 영상이 없으면 OPEN 전환 차단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countLecturesByCourseId() — 강의 영상이 없는 강의는 공개할 수 없습니다.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3931920"/>
            <a:ext cx="5577840" cy="242316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3931920"/>
            <a:ext cx="50800" cy="2423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4069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D399"/>
                </a:solidFill>
              </a:rPr>
              <a:t>📋  신규 강의 기본값 DRAFT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5262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강의 생성 시 자동으로 비공개(DRAFT) 상태로 시작
강사가 직접 OPEN으로 전환해야 공개됨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53492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instructor.repository.ts createCourse — status: DRAFT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31920"/>
            <a:ext cx="2743200" cy="242316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931920"/>
            <a:ext cx="50800" cy="24231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02336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</a:rPr>
              <a:t>강의 상태 흐름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80560"/>
            <a:ext cx="640080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48056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DRAFT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526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생성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8737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166360"/>
            <a:ext cx="640080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6636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OPEN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212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공개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5595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852160"/>
            <a:ext cx="640080" cy="38404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85216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CANCELED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897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폐강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04 · 05  UI 개선 &amp; 모니터링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신고 모달 리디자인 + Sentry · 로깅 · 알림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577840" cy="52120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0800" cy="52120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37160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</a:rPr>
              <a:t>신고 모달 UI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이전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HTML &lt;select&gt; 드롭다운
단순 텍스트 입력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03320"/>
            <a:ext cx="5577840" cy="127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8BFA"/>
                </a:solidFill>
              </a:rPr>
              <a:t>이후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3버튼 그룹 선택 (저작권/잘못된정보/기타)
블러(backdrop) 모달 배경
성공 상태 그린 체크마크 애니메이션
선택 버튼 accent 테두리 강조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350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client/src/page/CourseDetailPage.tsx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577840" cy="52120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0800" cy="5212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37160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</a:rPr>
              <a:t>모니터링 &amp; 운영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</a:rPr>
              <a:t>🔴  Sentry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671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Backend + Frontend 에러 자동 수집
스택트레이스 · 성능 모니터링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249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</a:rPr>
              <a:t>📝  Winston 로깅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63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레벨별 로그 (error/warn/log)
Production 에러 스택 은닉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210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</a:rPr>
              <a:t>📧  이메일 알림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5935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구매 완료 시 Nodemailer 자동 발송
SMTP 연동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1713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</a:rPr>
              <a:t>💬  Discord Webhook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554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order.completed · order.canceled
이벤트 발생 시 채널 알림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4132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💚  헬스체크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75157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@nestjs/terminus
GET /health — DB · Redis 상태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06  테스트 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Jest · 4개 spec 파일 · 44개 테스트 전체 통과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53312"/>
            <a:ext cx="5577840" cy="237744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53312"/>
            <a:ext cx="50800" cy="2377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4475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</a:rPr>
              <a:t>user.manager.spec.ts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01952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saltRounds ≥ 12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40864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같은 비밀번호도 해시 결과 상이 (rainbow table 방어)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9776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bcrypt.compare 일치 · 불일치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18688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이메일 없는 등록 → BadRequestException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53312"/>
            <a:ext cx="5577840" cy="237744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53312"/>
            <a:ext cx="50800" cy="2377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44475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register.request.spec.ts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901952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영문+숫자 조합 필수 (숫자만, 영문만 → 실패)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40864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8자 미만 → 실패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779776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ADMIN 역할 직접 등록 시도 → 실패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218688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정상 요청 → 통과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13632"/>
            <a:ext cx="5577840" cy="237744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913632"/>
            <a:ext cx="50800" cy="2377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400507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</a:rPr>
              <a:t>global.exception.spec.ts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462272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Production 500 → '서버 오류가 발생했습니다.' 제네릭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01184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Dev 500 → 실제 메시지 노출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340096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4xx 에러 → 원본 메시지 유지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79008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응답에 path · timestamp 포함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913632"/>
            <a:ext cx="5577840" cy="237744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913632"/>
            <a:ext cx="50800" cy="2377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400507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</a:rPr>
              <a:t>toss-payment.service.spec.ts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462272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cancelPayment 성공 시 정상 완료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901184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Toss API 실패 → BadGatewayException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340096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body에 cancelReason · cancelAmount 포함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779008"/>
            <a:ext cx="5212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Authorization 헤더 Basic 형식 검증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3276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4D399"/>
                </a:solidFill>
              </a:rPr>
              <a:t>7 Suites   ·   44 Tests   ·   0 Failed   ·   npm run build  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07  배포 환경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AWS EC2 · Docker Compose · GitHub Actions 자동 배포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61872"/>
            <a:ext cx="11430000" cy="713232"/>
          </a:xfrm>
          <a:prstGeom prst="rect">
            <a:avLst/>
          </a:prstGeom>
          <a:solidFill>
            <a:srgbClr val="163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50800" cy="7132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</a:rPr>
              <a:t>🌐  배포 주소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371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http://[EC2_PUBLIC_IP]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1783080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24028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git push
→ branch P3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7128" y="248716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9152" y="2194560"/>
            <a:ext cx="1783080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24028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GitHub
Actions 실행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8716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2544" y="2194560"/>
            <a:ext cx="1783080" cy="10058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224028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EC2 SSH
접속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248716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5936" y="2194560"/>
            <a:ext cx="1783080" cy="10058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224028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git reset --hard
origin/P3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248716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2194560"/>
            <a:ext cx="1783080" cy="10058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9056" y="224028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docker compose
up --build -d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0696" y="2487168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20" y="2194560"/>
            <a:ext cx="1783080" cy="10058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42448" y="224028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image
prune -f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429000"/>
            <a:ext cx="11430000" cy="127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</a:rPr>
              <a:t>Docker Compose 서비스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977639"/>
            <a:ext cx="2788920" cy="25146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977639"/>
            <a:ext cx="50800" cy="2514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06907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</a:rPr>
              <a:t>postgres:16-alpine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52628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pg_isready 헬스체크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3977639"/>
            <a:ext cx="2788920" cy="25146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37560" y="3977639"/>
            <a:ext cx="50800" cy="2514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02152" y="406907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</a:rPr>
              <a:t>redis:7-alpine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38728" y="452628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redis-cli ping 헬스체크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977639"/>
            <a:ext cx="2788920" cy="25146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977639"/>
            <a:ext cx="50800" cy="25146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406907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</a:rPr>
              <a:t>NestJS server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452628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Node 22 Alpine
prisma migrate deploy 자동 실행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81160" y="3977639"/>
            <a:ext cx="2788920" cy="25146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81160" y="3977639"/>
            <a:ext cx="50800" cy="2514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45752" y="406907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Nginx client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82328" y="4526280"/>
            <a:ext cx="2514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React SPA 서빙
API /api/* 프록시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4023360" cy="685800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38BDF8"/>
                </a:solidFill>
              </a:rPr>
              <a:t>Q &amp;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✅  보안 취약점 7개 해소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81144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✅  Toss 환불 API 실 연동 (2케이스)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0176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✅  영상 없는 강의 구매/공개 차단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2239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✅  44개 테스트 전체 통과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43016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✅  EC2 자동 배포 파이프라인 운영 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01168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0">
                <a:solidFill>
                  <a:srgbClr val="38BDF8"/>
                </a:solidFill>
              </a:rPr>
              <a:t>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